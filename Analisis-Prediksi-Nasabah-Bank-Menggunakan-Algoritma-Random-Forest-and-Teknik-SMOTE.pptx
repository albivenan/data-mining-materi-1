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4630400" cy="8229600"/>
  <p:notesSz cx="8229600" cy="14630400"/>
  <p:embeddedFontLst>
    <p:embeddedFont>
      <p:font typeface="Alice" panose="020B0604020202020204" charset="0"/>
      <p:regular r:id="rId12"/>
    </p:embeddedFont>
    <p:embeddedFont>
      <p:font typeface="Calibri" panose="020F0502020204030204" pitchFamily="34" charset="0"/>
      <p:regular r:id="rId13"/>
      <p:bold r:id="rId14"/>
      <p:italic r:id="rId15"/>
      <p:boldItalic r:id="rId16"/>
    </p:embeddedFont>
    <p:embeddedFont>
      <p:font typeface="Lora" panose="020B0604020202020204" charset="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1" d="100"/>
          <a:sy n="61" d="100"/>
        </p:scale>
        <p:origin x="59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789448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-3-8.svg"/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-3-6.svg"/><Relationship Id="rId5" Type="http://schemas.openxmlformats.org/officeDocument/2006/relationships/image" Target="../media/image-3-4.svg"/><Relationship Id="rId10" Type="http://schemas.openxmlformats.org/officeDocument/2006/relationships/image" Target="../media/image-3-10.svg"/><Relationship Id="rId4" Type="http://schemas.openxmlformats.org/officeDocument/2006/relationships/image" Target="../media/image-3-2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-4-7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-4-5.svg"/><Relationship Id="rId11" Type="http://schemas.openxmlformats.org/officeDocument/2006/relationships/image" Target="../media/image-4-11.svg"/><Relationship Id="rId5" Type="http://schemas.openxmlformats.org/officeDocument/2006/relationships/image" Target="../media/image-4-3.svg"/><Relationship Id="rId4" Type="http://schemas.openxmlformats.org/officeDocument/2006/relationships/image" Target="../media/image6.png"/><Relationship Id="rId9" Type="http://schemas.openxmlformats.org/officeDocument/2006/relationships/image" Target="../media/image-4-9.sv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-9-6.svg"/><Relationship Id="rId5" Type="http://schemas.openxmlformats.org/officeDocument/2006/relationships/image" Target="../media/image-9-4.svg"/><Relationship Id="rId4" Type="http://schemas.openxmlformats.org/officeDocument/2006/relationships/image" Target="../media/image-9-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055727"/>
            <a:ext cx="7556421" cy="28351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Analisis Prediksi Nasabah Bank Menggunakan Algoritma Random Forest &amp; Teknik SMOTE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4231005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Tujuan:</a:t>
            </a: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Menggunakan Machine Learning untuk mengidentifikasi nasabah yang berpotensi berlangganan term deposit.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6280190" y="5211961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Objek Penelitian:</a:t>
            </a: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Database pemasaran perbankan dengan total 4.521 entri nasabah.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6280190" y="6192917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Nama Presentator:</a:t>
            </a: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</a:t>
            </a:r>
            <a:r>
              <a:rPr lang="en-US" sz="1750" dirty="0" err="1" smtClean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Gei</a:t>
            </a:r>
            <a:r>
              <a:rPr lang="en-US" sz="1750" dirty="0" smtClean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</a:t>
            </a:r>
            <a:r>
              <a:rPr lang="en-US" sz="1750" dirty="0" err="1" smtClean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Zhinjian</a:t>
            </a:r>
            <a:r>
              <a:rPr lang="en-US" sz="1750" dirty="0" smtClean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</a:t>
            </a:r>
            <a:r>
              <a:rPr lang="en-US" sz="1750" dirty="0" err="1" smtClean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Albivenanza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6280190" y="6810970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Nomor Induk Presentator:</a:t>
            </a: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</a:t>
            </a:r>
            <a:r>
              <a:rPr lang="en-US" sz="1750" dirty="0" smtClean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231240001467</a:t>
            </a:r>
            <a:endParaRPr lang="en-US" sz="17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301954" y="490180"/>
            <a:ext cx="4739045" cy="453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r>
              <a:rPr lang="en-US" sz="28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Profil Data &amp; Masalah Utama</a:t>
            </a:r>
            <a:endParaRPr lang="en-US" sz="2850" dirty="0"/>
          </a:p>
        </p:txBody>
      </p:sp>
      <p:sp>
        <p:nvSpPr>
          <p:cNvPr id="3" name="Text 1"/>
          <p:cNvSpPr/>
          <p:nvPr/>
        </p:nvSpPr>
        <p:spPr>
          <a:xfrm>
            <a:off x="3826312" y="2132767"/>
            <a:ext cx="1787128" cy="363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28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88.3%</a:t>
            </a:r>
            <a:endParaRPr lang="en-US" sz="28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0216" y="1224677"/>
            <a:ext cx="2179558" cy="217955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811786" y="3533537"/>
            <a:ext cx="1816298" cy="227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50"/>
              </a:lnSpc>
              <a:buNone/>
            </a:pPr>
            <a:r>
              <a:rPr lang="en-US" sz="14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Target "No"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2301954" y="3853577"/>
            <a:ext cx="4836081" cy="1906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Tidak Berlangganan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2301954" y="4127897"/>
            <a:ext cx="4836081" cy="1906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4.000 data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3826312" y="5449014"/>
            <a:ext cx="1787128" cy="363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28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11.7%</a:t>
            </a:r>
            <a:endParaRPr lang="en-US" sz="285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30216" y="4540925"/>
            <a:ext cx="2179558" cy="217955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811786" y="6849785"/>
            <a:ext cx="1816298" cy="227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50"/>
              </a:lnSpc>
              <a:buNone/>
            </a:pPr>
            <a:r>
              <a:rPr lang="en-US" sz="14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Target "Yes"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2301954" y="7169825"/>
            <a:ext cx="4836081" cy="1906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Berlangganan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2301954" y="7444145"/>
            <a:ext cx="4836081" cy="1906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521 data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7499985" y="3822740"/>
            <a:ext cx="4836081" cy="1177528"/>
          </a:xfrm>
          <a:prstGeom prst="roundRect">
            <a:avLst>
              <a:gd name="adj" fmla="val 1851"/>
            </a:avLst>
          </a:prstGeom>
          <a:solidFill>
            <a:srgbClr val="FCF2B5"/>
          </a:solidFill>
          <a:ln/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45241" y="3960733"/>
            <a:ext cx="226933" cy="18157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017431" y="3952042"/>
            <a:ext cx="3208734" cy="227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Masalah: Class Imbalance yang ekstrem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8017431" y="4272082"/>
            <a:ext cx="4173379" cy="5718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Tanpa penanganan khusus, model akan gagal mengenali ciri-ciri nasabah yang tertarik karena jumlah datanya terlalu sedikit.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2228" y="562451"/>
            <a:ext cx="9161383" cy="6091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50"/>
              </a:lnSpc>
              <a:buNone/>
            </a:pPr>
            <a:r>
              <a:rPr lang="en-US" sz="38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Python Libraries &amp; Fungsi Teknis Spesifik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682228" y="1506498"/>
            <a:ext cx="4310301" cy="3576399"/>
          </a:xfrm>
          <a:prstGeom prst="roundRect">
            <a:avLst>
              <a:gd name="adj" fmla="val 818"/>
            </a:avLst>
          </a:prstGeom>
          <a:solidFill>
            <a:srgbClr val="F0EDE6"/>
          </a:solidFill>
          <a:ln/>
        </p:spPr>
      </p:sp>
      <p:sp>
        <p:nvSpPr>
          <p:cNvPr id="4" name="Shape 2"/>
          <p:cNvSpPr/>
          <p:nvPr/>
        </p:nvSpPr>
        <p:spPr>
          <a:xfrm>
            <a:off x="877133" y="1701403"/>
            <a:ext cx="584716" cy="584716"/>
          </a:xfrm>
          <a:prstGeom prst="roundRect">
            <a:avLst>
              <a:gd name="adj" fmla="val 15636797"/>
            </a:avLst>
          </a:prstGeom>
          <a:solidFill>
            <a:srgbClr val="1B5F39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37868" y="1862138"/>
            <a:ext cx="263128" cy="2631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77133" y="2453521"/>
            <a:ext cx="2436614" cy="304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pandas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877133" y="2858572"/>
            <a:ext cx="3920490" cy="17395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pd.read_csv</a:t>
            </a:r>
            <a:r>
              <a:rPr lang="en-US" sz="15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digunakan untuk memuat dataset Bank.csv, lalu </a:t>
            </a:r>
            <a:r>
              <a:rPr lang="en-US" sz="150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iloc</a:t>
            </a:r>
            <a:r>
              <a:rPr lang="en-US" sz="15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memisahkan 16 kolom fitur dan 1 kolom target. Library ini juga dipakai untuk transformasi string, termasuk mengganti nilai </a:t>
            </a:r>
            <a:r>
              <a:rPr lang="en-US" sz="1500" i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'unknown'</a:t>
            </a:r>
            <a:r>
              <a:rPr lang="en-US" sz="15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menjadi </a:t>
            </a:r>
            <a:r>
              <a:rPr lang="en-US" sz="1500" i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NaN</a:t>
            </a:r>
            <a:r>
              <a:rPr lang="en-US" sz="15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agar siap diproses.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159931" y="1506498"/>
            <a:ext cx="4310420" cy="3576399"/>
          </a:xfrm>
          <a:prstGeom prst="roundRect">
            <a:avLst>
              <a:gd name="adj" fmla="val 818"/>
            </a:avLst>
          </a:prstGeom>
          <a:solidFill>
            <a:srgbClr val="F0EDE6"/>
          </a:solidFill>
          <a:ln/>
        </p:spPr>
      </p:sp>
      <p:sp>
        <p:nvSpPr>
          <p:cNvPr id="9" name="Shape 6"/>
          <p:cNvSpPr/>
          <p:nvPr/>
        </p:nvSpPr>
        <p:spPr>
          <a:xfrm>
            <a:off x="5354836" y="1701403"/>
            <a:ext cx="584716" cy="584716"/>
          </a:xfrm>
          <a:prstGeom prst="roundRect">
            <a:avLst>
              <a:gd name="adj" fmla="val 15636797"/>
            </a:avLst>
          </a:prstGeom>
          <a:solidFill>
            <a:srgbClr val="1B5F39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5515570" y="1862138"/>
            <a:ext cx="263128" cy="26312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354836" y="2453521"/>
            <a:ext cx="2436614" cy="304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scikit-learn</a:t>
            </a:r>
            <a:endParaRPr lang="en-US" sz="1900" dirty="0"/>
          </a:p>
        </p:txBody>
      </p:sp>
      <p:sp>
        <p:nvSpPr>
          <p:cNvPr id="12" name="Text 8"/>
          <p:cNvSpPr/>
          <p:nvPr/>
        </p:nvSpPr>
        <p:spPr>
          <a:xfrm>
            <a:off x="5354836" y="2858572"/>
            <a:ext cx="3920609" cy="2029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SimpleImputer</a:t>
            </a:r>
            <a:r>
              <a:rPr lang="en-US" sz="15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mengisi 5.254 nilai kosong dengan modus, sedangkan </a:t>
            </a:r>
            <a:r>
              <a:rPr lang="en-US" sz="150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ColumnTransformer</a:t>
            </a:r>
            <a:r>
              <a:rPr lang="en-US" sz="15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mengatur preprocessing pada kolom numerik dan kategorikal secara paralel. Komponen ini memastikan data konsisten sebelum training model.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9637752" y="1506498"/>
            <a:ext cx="4310420" cy="3576399"/>
          </a:xfrm>
          <a:prstGeom prst="roundRect">
            <a:avLst>
              <a:gd name="adj" fmla="val 818"/>
            </a:avLst>
          </a:prstGeom>
          <a:solidFill>
            <a:srgbClr val="F0EDE6"/>
          </a:solidFill>
          <a:ln/>
        </p:spPr>
      </p:sp>
      <p:sp>
        <p:nvSpPr>
          <p:cNvPr id="14" name="Shape 10"/>
          <p:cNvSpPr/>
          <p:nvPr/>
        </p:nvSpPr>
        <p:spPr>
          <a:xfrm>
            <a:off x="9832658" y="1701403"/>
            <a:ext cx="584716" cy="584716"/>
          </a:xfrm>
          <a:prstGeom prst="roundRect">
            <a:avLst>
              <a:gd name="adj" fmla="val 15636797"/>
            </a:avLst>
          </a:prstGeom>
          <a:solidFill>
            <a:srgbClr val="1B5F39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p:blipFill>
        <p:spPr>
          <a:xfrm>
            <a:off x="9993392" y="1862138"/>
            <a:ext cx="263128" cy="26312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832658" y="2453521"/>
            <a:ext cx="2904292" cy="304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imbalanced-learn (SMOTE)</a:t>
            </a:r>
            <a:endParaRPr lang="en-US" sz="1900" dirty="0"/>
          </a:p>
        </p:txBody>
      </p:sp>
      <p:sp>
        <p:nvSpPr>
          <p:cNvPr id="17" name="Text 12"/>
          <p:cNvSpPr/>
          <p:nvPr/>
        </p:nvSpPr>
        <p:spPr>
          <a:xfrm>
            <a:off x="9832658" y="2858572"/>
            <a:ext cx="3920609" cy="17395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fit_resample</a:t>
            </a:r>
            <a:r>
              <a:rPr lang="en-US" sz="15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digunakan untuk menghasilkan sampel sintetis baru pada kelas minoritas </a:t>
            </a:r>
            <a:r>
              <a:rPr lang="en-US" sz="1500" i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"Yes"</a:t>
            </a:r>
            <a:r>
              <a:rPr lang="en-US" sz="15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. Teknik ini membantu menyeimbangkan distribusi kelas secara matematis agar model tidak bias ke mayoritas.</a:t>
            </a:r>
            <a:endParaRPr lang="en-US" sz="1500" dirty="0"/>
          </a:p>
        </p:txBody>
      </p:sp>
      <p:sp>
        <p:nvSpPr>
          <p:cNvPr id="18" name="Shape 13"/>
          <p:cNvSpPr/>
          <p:nvPr/>
        </p:nvSpPr>
        <p:spPr>
          <a:xfrm>
            <a:off x="682228" y="5250299"/>
            <a:ext cx="6549271" cy="2416731"/>
          </a:xfrm>
          <a:prstGeom prst="roundRect">
            <a:avLst>
              <a:gd name="adj" fmla="val 1210"/>
            </a:avLst>
          </a:prstGeom>
          <a:solidFill>
            <a:srgbClr val="F0EDE6"/>
          </a:solidFill>
          <a:ln/>
        </p:spPr>
      </p:sp>
      <p:sp>
        <p:nvSpPr>
          <p:cNvPr id="19" name="Shape 14"/>
          <p:cNvSpPr/>
          <p:nvPr/>
        </p:nvSpPr>
        <p:spPr>
          <a:xfrm>
            <a:off x="877133" y="5445204"/>
            <a:ext cx="584716" cy="584716"/>
          </a:xfrm>
          <a:prstGeom prst="roundRect">
            <a:avLst>
              <a:gd name="adj" fmla="val 15636797"/>
            </a:avLst>
          </a:prstGeom>
          <a:solidFill>
            <a:srgbClr val="1B5F39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8"/>
              </a:ext>
            </a:extLst>
          </a:blip>
          <a:stretch>
            <a:fillRect/>
          </a:stretch>
        </p:blipFill>
        <p:spPr>
          <a:xfrm>
            <a:off x="1037868" y="5605939"/>
            <a:ext cx="263128" cy="26312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877133" y="6197322"/>
            <a:ext cx="2610445" cy="304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RandomForestClassifier</a:t>
            </a:r>
            <a:endParaRPr lang="en-US" sz="1900" dirty="0"/>
          </a:p>
        </p:txBody>
      </p:sp>
      <p:sp>
        <p:nvSpPr>
          <p:cNvPr id="22" name="Text 16"/>
          <p:cNvSpPr/>
          <p:nvPr/>
        </p:nvSpPr>
        <p:spPr>
          <a:xfrm>
            <a:off x="877133" y="6602373"/>
            <a:ext cx="6159460" cy="869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Model prediksi berbasis ensemble yang membangun </a:t>
            </a:r>
            <a:r>
              <a:rPr lang="en-US" sz="150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100 decision trees</a:t>
            </a:r>
            <a:r>
              <a:rPr lang="en-US" sz="15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dengan kriteria </a:t>
            </a:r>
            <a:r>
              <a:rPr lang="en-US" sz="150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entropy</a:t>
            </a:r>
            <a:r>
              <a:rPr lang="en-US" sz="15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. Setiap pohon belajar dari subset data berbeda untuk mengklasifikasikan nasabah secara lebih robust.</a:t>
            </a:r>
            <a:endParaRPr lang="en-US" sz="1500" dirty="0"/>
          </a:p>
        </p:txBody>
      </p:sp>
      <p:sp>
        <p:nvSpPr>
          <p:cNvPr id="23" name="Shape 17"/>
          <p:cNvSpPr/>
          <p:nvPr/>
        </p:nvSpPr>
        <p:spPr>
          <a:xfrm>
            <a:off x="7398901" y="5250299"/>
            <a:ext cx="6549271" cy="2416731"/>
          </a:xfrm>
          <a:prstGeom prst="roundRect">
            <a:avLst>
              <a:gd name="adj" fmla="val 1210"/>
            </a:avLst>
          </a:prstGeom>
          <a:solidFill>
            <a:srgbClr val="F0EDE6"/>
          </a:solidFill>
          <a:ln/>
        </p:spPr>
      </p:sp>
      <p:sp>
        <p:nvSpPr>
          <p:cNvPr id="24" name="Shape 18"/>
          <p:cNvSpPr/>
          <p:nvPr/>
        </p:nvSpPr>
        <p:spPr>
          <a:xfrm>
            <a:off x="7593806" y="5445204"/>
            <a:ext cx="584716" cy="584716"/>
          </a:xfrm>
          <a:prstGeom prst="roundRect">
            <a:avLst>
              <a:gd name="adj" fmla="val 15636797"/>
            </a:avLst>
          </a:prstGeom>
          <a:solidFill>
            <a:srgbClr val="1B5F39"/>
          </a:solidFill>
          <a:ln/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10"/>
              </a:ext>
            </a:extLst>
          </a:blip>
          <a:stretch>
            <a:fillRect/>
          </a:stretch>
        </p:blipFill>
        <p:spPr>
          <a:xfrm>
            <a:off x="7754541" y="5605939"/>
            <a:ext cx="263128" cy="263128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7593806" y="6197322"/>
            <a:ext cx="2436614" cy="304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tabulate</a:t>
            </a:r>
            <a:endParaRPr lang="en-US" sz="1900" dirty="0"/>
          </a:p>
        </p:txBody>
      </p:sp>
      <p:sp>
        <p:nvSpPr>
          <p:cNvPr id="27" name="Text 20"/>
          <p:cNvSpPr/>
          <p:nvPr/>
        </p:nvSpPr>
        <p:spPr>
          <a:xfrm>
            <a:off x="7593806" y="6602373"/>
            <a:ext cx="6159460" cy="289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Menampilkan data inspeksi dalam format tabel yang rapi di konsol</a:t>
            </a:r>
            <a:endParaRPr lang="en-US" sz="15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164788"/>
            <a:ext cx="580024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Alur Kerja Data Mining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2625" y="2327196"/>
            <a:ext cx="12625030" cy="4737497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11784546" y="3533921"/>
            <a:ext cx="652135" cy="65213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1203535" y="5731208"/>
            <a:ext cx="1904234" cy="7336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23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Latih &amp; Evaluasi</a:t>
            </a:r>
            <a:endParaRPr lang="en-US" sz="2300" dirty="0"/>
          </a:p>
        </p:txBody>
      </p:sp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p:blipFill>
        <p:spPr>
          <a:xfrm>
            <a:off x="9397120" y="3535144"/>
            <a:ext cx="652135" cy="652135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8803678" y="5731208"/>
            <a:ext cx="1904234" cy="7336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23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Atasi Imbalance</a:t>
            </a:r>
            <a:endParaRPr lang="en-US" sz="2300" dirty="0"/>
          </a:p>
        </p:txBody>
      </p:sp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7"/>
              </a:ext>
            </a:extLst>
          </a:blip>
          <a:stretch>
            <a:fillRect/>
          </a:stretch>
        </p:blipFill>
        <p:spPr>
          <a:xfrm>
            <a:off x="7010307" y="3535144"/>
            <a:ext cx="652135" cy="652135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6416864" y="5731208"/>
            <a:ext cx="1904234" cy="7336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23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Feature Engineering</a:t>
            </a:r>
            <a:endParaRPr lang="en-US" sz="2300" dirty="0"/>
          </a:p>
        </p:txBody>
      </p:sp>
      <p:pic>
        <p:nvPicPr>
          <p:cNvPr id="10" name="Image 4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9"/>
              </a:ext>
            </a:extLst>
          </a:blip>
          <a:stretch>
            <a:fillRect/>
          </a:stretch>
        </p:blipFill>
        <p:spPr>
          <a:xfrm>
            <a:off x="4623493" y="3535144"/>
            <a:ext cx="652135" cy="652135"/>
          </a:xfrm>
          <a:prstGeom prst="rect">
            <a:avLst/>
          </a:prstGeom>
        </p:spPr>
      </p:pic>
      <p:sp>
        <p:nvSpPr>
          <p:cNvPr id="11" name="Text 4"/>
          <p:cNvSpPr/>
          <p:nvPr/>
        </p:nvSpPr>
        <p:spPr>
          <a:xfrm>
            <a:off x="4030050" y="5731208"/>
            <a:ext cx="1904234" cy="7336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23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Pembersihan Data</a:t>
            </a:r>
            <a:endParaRPr lang="en-US" sz="2300" dirty="0"/>
          </a:p>
        </p:txBody>
      </p:sp>
      <p:pic>
        <p:nvPicPr>
          <p:cNvPr id="12" name="Image 5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11"/>
              </a:ext>
            </a:extLst>
          </a:blip>
          <a:stretch>
            <a:fillRect/>
          </a:stretch>
        </p:blipFill>
        <p:spPr>
          <a:xfrm>
            <a:off x="2223636" y="3535144"/>
            <a:ext cx="652135" cy="652135"/>
          </a:xfrm>
          <a:prstGeom prst="rect">
            <a:avLst/>
          </a:prstGeom>
        </p:spPr>
      </p:pic>
      <p:sp>
        <p:nvSpPr>
          <p:cNvPr id="13" name="Text 5"/>
          <p:cNvSpPr/>
          <p:nvPr/>
        </p:nvSpPr>
        <p:spPr>
          <a:xfrm>
            <a:off x="1591065" y="5731208"/>
            <a:ext cx="1904234" cy="7336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23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Impor &amp; Inspeksi</a:t>
            </a:r>
            <a:endParaRPr lang="en-US" sz="23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141690"/>
            <a:ext cx="884765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Detail Tahapan Preprocessing Data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304098"/>
            <a:ext cx="453628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Alice Light" pitchFamily="34" charset="0"/>
                <a:ea typeface="Alice Light" pitchFamily="34" charset="-122"/>
                <a:cs typeface="Alice Light" pitchFamily="34" charset="-120"/>
              </a:rPr>
              <a:t>01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2659142"/>
            <a:ext cx="6407944" cy="30480"/>
          </a:xfrm>
          <a:prstGeom prst="rect">
            <a:avLst/>
          </a:prstGeom>
          <a:solidFill>
            <a:srgbClr val="1B5F39"/>
          </a:solidFill>
          <a:ln/>
        </p:spPr>
      </p:sp>
      <p:sp>
        <p:nvSpPr>
          <p:cNvPr id="5" name="Text 3"/>
          <p:cNvSpPr/>
          <p:nvPr/>
        </p:nvSpPr>
        <p:spPr>
          <a:xfrm>
            <a:off x="793790" y="283344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Tahap 1 - Imputasi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93790" y="3323868"/>
            <a:ext cx="6407944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Membersihkan data dari nilai 'unknown' menggunakan strategi most_frequent. Tidak ada data yang dibuang dalam proses ini.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428548" y="2304098"/>
            <a:ext cx="453628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Alice Light" pitchFamily="34" charset="0"/>
                <a:ea typeface="Alice Light" pitchFamily="34" charset="-122"/>
                <a:cs typeface="Alice Light" pitchFamily="34" charset="-120"/>
              </a:rPr>
              <a:t>02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7428548" y="2659142"/>
            <a:ext cx="6408063" cy="30480"/>
          </a:xfrm>
          <a:prstGeom prst="rect">
            <a:avLst/>
          </a:prstGeom>
          <a:solidFill>
            <a:srgbClr val="1B5F39"/>
          </a:solidFill>
          <a:ln/>
        </p:spPr>
      </p:sp>
      <p:sp>
        <p:nvSpPr>
          <p:cNvPr id="9" name="Text 7"/>
          <p:cNvSpPr/>
          <p:nvPr/>
        </p:nvSpPr>
        <p:spPr>
          <a:xfrm>
            <a:off x="7428548" y="283344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Tahap 2 - Encoding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428548" y="3323868"/>
            <a:ext cx="6408063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One-Hot Encoding mengonversi 9 fitur teks seperti Job dan Marital menjadi 47 fitur numerik. Label Encoding mengubah target y menjadi format biner (1 untuk Yes, 0 untuk No).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793790" y="4809411"/>
            <a:ext cx="453628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Alice Light" pitchFamily="34" charset="0"/>
                <a:ea typeface="Alice Light" pitchFamily="34" charset="-122"/>
                <a:cs typeface="Alice Light" pitchFamily="34" charset="-120"/>
              </a:rPr>
              <a:t>03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793790" y="5164455"/>
            <a:ext cx="6407944" cy="30480"/>
          </a:xfrm>
          <a:prstGeom prst="rect">
            <a:avLst/>
          </a:prstGeom>
          <a:solidFill>
            <a:srgbClr val="1B5F39"/>
          </a:solidFill>
          <a:ln/>
        </p:spPr>
      </p:sp>
      <p:sp>
        <p:nvSpPr>
          <p:cNvPr id="13" name="Text 11"/>
          <p:cNvSpPr/>
          <p:nvPr/>
        </p:nvSpPr>
        <p:spPr>
          <a:xfrm>
            <a:off x="793790" y="533876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Tahap 3 - Splitting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93790" y="5829181"/>
            <a:ext cx="640794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Memisahkan data dengan rasio 80:20 menjadi 3.616 data training dan 905 data testing.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7428548" y="4809411"/>
            <a:ext cx="453628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Alice Light" pitchFamily="34" charset="0"/>
                <a:ea typeface="Alice Light" pitchFamily="34" charset="-122"/>
                <a:cs typeface="Alice Light" pitchFamily="34" charset="-120"/>
              </a:rPr>
              <a:t>04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7428548" y="5164455"/>
            <a:ext cx="6408063" cy="30480"/>
          </a:xfrm>
          <a:prstGeom prst="rect">
            <a:avLst/>
          </a:prstGeom>
          <a:solidFill>
            <a:srgbClr val="1B5F39"/>
          </a:solidFill>
          <a:ln/>
        </p:spPr>
      </p:sp>
      <p:sp>
        <p:nvSpPr>
          <p:cNvPr id="17" name="Text 15"/>
          <p:cNvSpPr/>
          <p:nvPr/>
        </p:nvSpPr>
        <p:spPr>
          <a:xfrm>
            <a:off x="7428548" y="533876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Tahap 4 - Scaling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428548" y="5829181"/>
            <a:ext cx="6408063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Standarisasi semua fitur menggunakan StandardScaler agar variabel seperti Balance dan Age berada dalam rentang skala yang sama.</a:t>
            </a:r>
            <a:endParaRPr lang="en-US" sz="17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568291" y="513040"/>
            <a:ext cx="7004923" cy="5205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050"/>
              </a:lnSpc>
              <a:buNone/>
            </a:pPr>
            <a:r>
              <a:rPr lang="en-US" sz="32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Implementasi SMOTE (Oversampling)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1568291" y="1339334"/>
            <a:ext cx="2498646" cy="312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Apa itu SMOTE?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1568291" y="1773912"/>
            <a:ext cx="4948714" cy="9244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Synthetic Minority Over-sampling Technique</a:t>
            </a:r>
            <a:r>
              <a:rPr lang="en-US" sz="13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adalah metode untuk menambah sampel sintetis pada nasabah yang mengambil deposit ("Yes") agar kelas minoritas menjadi seimbang.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568291" y="2820591"/>
            <a:ext cx="2498646" cy="312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Metode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568291" y="3255169"/>
            <a:ext cx="4948714" cy="462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Menambah sampel sintetis pada nasabah yang mengambil deposit ("Yes").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568291" y="3839647"/>
            <a:ext cx="2498646" cy="312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Statistik Perubahan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568291" y="4274225"/>
            <a:ext cx="4948714" cy="231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Data Training Awal: 3.616 baris.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568291" y="4615339"/>
            <a:ext cx="4948714" cy="462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Setelah SMOTE: 6.420 baris (seimbang 50:50 antara Yes dan No).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568291" y="5199817"/>
            <a:ext cx="2498646" cy="312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Keunggulan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1568291" y="5634395"/>
            <a:ext cx="4948714" cy="462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Memberikan kesempatan bagi algoritma untuk mempelajari karakteristik nasabah potensial secara mendalam.</a:t>
            </a:r>
            <a:endParaRPr lang="en-US" sz="1300" dirty="0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0866" y="1665565"/>
            <a:ext cx="6138624" cy="4092416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568291" y="6427351"/>
            <a:ext cx="5670352" cy="549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300"/>
              </a:lnSpc>
              <a:buNone/>
            </a:pPr>
            <a:r>
              <a:rPr lang="en-US" sz="43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3,616</a:t>
            </a:r>
            <a:endParaRPr lang="en-US" sz="4300" dirty="0"/>
          </a:p>
        </p:txBody>
      </p:sp>
      <p:sp>
        <p:nvSpPr>
          <p:cNvPr id="14" name="Text 11"/>
          <p:cNvSpPr/>
          <p:nvPr/>
        </p:nvSpPr>
        <p:spPr>
          <a:xfrm>
            <a:off x="3362325" y="7151846"/>
            <a:ext cx="2082165" cy="2602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6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Data Asli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1568291" y="7485459"/>
            <a:ext cx="5670352" cy="231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3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Jumlah baris awal sebelum SMOTE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7391519" y="6427351"/>
            <a:ext cx="5670471" cy="549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300"/>
              </a:lnSpc>
              <a:buNone/>
            </a:pPr>
            <a:r>
              <a:rPr lang="en-US" sz="43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6,420</a:t>
            </a:r>
            <a:endParaRPr lang="en-US" sz="4300" dirty="0"/>
          </a:p>
        </p:txBody>
      </p:sp>
      <p:sp>
        <p:nvSpPr>
          <p:cNvPr id="17" name="Text 14"/>
          <p:cNvSpPr/>
          <p:nvPr/>
        </p:nvSpPr>
        <p:spPr>
          <a:xfrm>
            <a:off x="9185672" y="7151846"/>
            <a:ext cx="2082165" cy="2602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6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Data Seimbang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7391519" y="7485459"/>
            <a:ext cx="5670471" cy="231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3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Jumlah baris setelah aplikasi SMOTE</a:t>
            </a:r>
            <a:endParaRPr lang="en-US" sz="13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665917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Pelatihan Model: Random Forest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280190" y="2423636"/>
            <a:ext cx="3664744" cy="3182422"/>
          </a:xfrm>
          <a:prstGeom prst="roundRect">
            <a:avLst>
              <a:gd name="adj" fmla="val 1069"/>
            </a:avLst>
          </a:prstGeom>
          <a:solidFill>
            <a:srgbClr val="FCFBF8"/>
          </a:solidFill>
          <a:ln w="30480">
            <a:solidFill>
              <a:srgbClr val="D6D3CC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537484" y="268093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Konfigurasi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537484" y="3171349"/>
            <a:ext cx="315015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Menggunakan 100 estimator pohon keputusan.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10171748" y="2423636"/>
            <a:ext cx="3664863" cy="3182422"/>
          </a:xfrm>
          <a:prstGeom prst="roundRect">
            <a:avLst>
              <a:gd name="adj" fmla="val 1069"/>
            </a:avLst>
          </a:prstGeom>
          <a:solidFill>
            <a:srgbClr val="FCFBF8"/>
          </a:solidFill>
          <a:ln w="30480">
            <a:solidFill>
              <a:srgbClr val="D6D3C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429042" y="268093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Kriteria Pembagian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0429042" y="3171349"/>
            <a:ext cx="3150275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Entropy (Information Gain)</a:t>
            </a: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untuk menentukan fitur mana yang paling kuat membedakan nasabah (misal: pengaruh </a:t>
            </a:r>
            <a:r>
              <a:rPr lang="en-US" sz="1750" i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Duration</a:t>
            </a: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telepon terhadap keputusan nasabah).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6280190" y="5832872"/>
            <a:ext cx="7556421" cy="1730812"/>
          </a:xfrm>
          <a:prstGeom prst="roundRect">
            <a:avLst>
              <a:gd name="adj" fmla="val 1966"/>
            </a:avLst>
          </a:prstGeom>
          <a:solidFill>
            <a:srgbClr val="FCFBF8"/>
          </a:solidFill>
          <a:ln w="30480">
            <a:solidFill>
              <a:srgbClr val="D6D3C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537484" y="609016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Proses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6537484" y="6580584"/>
            <a:ext cx="704183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Model dilatih menggunakan dataset yang sudah diseimbangkan oleh SMOTE.</a:t>
            </a:r>
            <a:endParaRPr lang="en-US" sz="17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935123" y="519470"/>
            <a:ext cx="5471874" cy="487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800"/>
              </a:lnSpc>
              <a:buNone/>
            </a:pPr>
            <a:r>
              <a:rPr lang="en-US" sz="30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Analisis Hasil &amp; Evaluasi Model</a:t>
            </a:r>
            <a:endParaRPr lang="en-US" sz="3050" dirty="0"/>
          </a:p>
        </p:txBody>
      </p:sp>
      <p:sp>
        <p:nvSpPr>
          <p:cNvPr id="3" name="Text 1"/>
          <p:cNvSpPr/>
          <p:nvPr/>
        </p:nvSpPr>
        <p:spPr>
          <a:xfrm>
            <a:off x="2724745" y="2234565"/>
            <a:ext cx="1917978" cy="3898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050"/>
              </a:lnSpc>
              <a:buNone/>
            </a:pPr>
            <a:r>
              <a:rPr lang="en-US" sz="30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87,51%</a:t>
            </a:r>
            <a:endParaRPr lang="en-US" sz="30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4243" y="1259919"/>
            <a:ext cx="2339102" cy="233910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709148" y="3745111"/>
            <a:ext cx="1949291" cy="243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sz="15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Akurasi Keseluruhan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935123" y="4053007"/>
            <a:ext cx="3497342" cy="2105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2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Persentase prediksi benar secara keseluruhan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356032" y="2234565"/>
            <a:ext cx="1917978" cy="3898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050"/>
              </a:lnSpc>
              <a:buNone/>
            </a:pPr>
            <a:r>
              <a:rPr lang="en-US" sz="30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14%</a:t>
            </a:r>
            <a:endParaRPr lang="en-US" sz="30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45530" y="1259919"/>
            <a:ext cx="2339102" cy="233910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308408" y="3745111"/>
            <a:ext cx="2013228" cy="243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sz="15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Recall Sebelum SMOTE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5566410" y="4053007"/>
            <a:ext cx="3497342" cy="4210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2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Kemampuan mendeteksi nasabah "Yes" tanpa SMOTE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9987320" y="2234565"/>
            <a:ext cx="1917978" cy="3898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050"/>
              </a:lnSpc>
              <a:buNone/>
            </a:pPr>
            <a:r>
              <a:rPr lang="en-US" sz="30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31%</a:t>
            </a:r>
            <a:endParaRPr lang="en-US" sz="305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76817" y="1259919"/>
            <a:ext cx="2339102" cy="233910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971723" y="3745111"/>
            <a:ext cx="1949291" cy="243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sz="15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Recall Setelah SMOTE</a:t>
            </a:r>
            <a:endParaRPr lang="en-US" sz="1500" dirty="0"/>
          </a:p>
        </p:txBody>
      </p:sp>
      <p:sp>
        <p:nvSpPr>
          <p:cNvPr id="14" name="Text 9"/>
          <p:cNvSpPr/>
          <p:nvPr/>
        </p:nvSpPr>
        <p:spPr>
          <a:xfrm>
            <a:off x="9197697" y="4053007"/>
            <a:ext cx="3497342" cy="4210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2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Kemampuan mendeteksi nasabah "Yes" dengan SMOTE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1935123" y="4594622"/>
            <a:ext cx="10760035" cy="881658"/>
          </a:xfrm>
          <a:prstGeom prst="roundRect">
            <a:avLst>
              <a:gd name="adj" fmla="val 2653"/>
            </a:avLst>
          </a:prstGeom>
          <a:solidFill>
            <a:srgbClr val="B6FCB8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90976" y="4752975"/>
            <a:ext cx="243602" cy="194905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2490430" y="4740712"/>
            <a:ext cx="1949291" cy="243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Pencapaian Signifikan</a:t>
            </a:r>
            <a:endParaRPr lang="en-US" sz="1500" dirty="0"/>
          </a:p>
        </p:txBody>
      </p:sp>
      <p:sp>
        <p:nvSpPr>
          <p:cNvPr id="18" name="Text 12"/>
          <p:cNvSpPr/>
          <p:nvPr/>
        </p:nvSpPr>
        <p:spPr>
          <a:xfrm>
            <a:off x="2490430" y="5091470"/>
            <a:ext cx="10048875" cy="2105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Model kini </a:t>
            </a:r>
            <a:r>
              <a:rPr lang="en-US" sz="1200" b="1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2x lipat lebih efektif</a:t>
            </a:r>
            <a:r>
              <a:rPr lang="en-US" sz="120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menemukan nasabah yang benar-benar tertarik untuk mendaftar deposito berjangka</a:t>
            </a:r>
            <a:endParaRPr lang="en-US" sz="1200" dirty="0"/>
          </a:p>
        </p:txBody>
      </p:sp>
      <p:sp>
        <p:nvSpPr>
          <p:cNvPr id="19" name="Text 13"/>
          <p:cNvSpPr/>
          <p:nvPr/>
        </p:nvSpPr>
        <p:spPr>
          <a:xfrm>
            <a:off x="1935123" y="5637014"/>
            <a:ext cx="2339102" cy="292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Confusion Matrix</a:t>
            </a:r>
            <a:endParaRPr lang="en-US" sz="1800" dirty="0"/>
          </a:p>
        </p:txBody>
      </p:sp>
      <p:sp>
        <p:nvSpPr>
          <p:cNvPr id="20" name="Shape 14"/>
          <p:cNvSpPr/>
          <p:nvPr/>
        </p:nvSpPr>
        <p:spPr>
          <a:xfrm>
            <a:off x="1935123" y="6090166"/>
            <a:ext cx="10760035" cy="1078230"/>
          </a:xfrm>
          <a:prstGeom prst="roundRect">
            <a:avLst>
              <a:gd name="adj" fmla="val 2169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1942743" y="6097786"/>
            <a:ext cx="10744795" cy="35433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2" name="Text 16"/>
          <p:cNvSpPr/>
          <p:nvPr/>
        </p:nvSpPr>
        <p:spPr>
          <a:xfrm>
            <a:off x="2098834" y="6169700"/>
            <a:ext cx="2907863" cy="2105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5326023" y="6169700"/>
            <a:ext cx="3441263" cy="2105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Actual: No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9086612" y="6169700"/>
            <a:ext cx="3445073" cy="2105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Actual: Yes</a:t>
            </a:r>
            <a:endParaRPr lang="en-US" sz="1200" dirty="0"/>
          </a:p>
        </p:txBody>
      </p:sp>
      <p:sp>
        <p:nvSpPr>
          <p:cNvPr id="25" name="Shape 19"/>
          <p:cNvSpPr/>
          <p:nvPr/>
        </p:nvSpPr>
        <p:spPr>
          <a:xfrm>
            <a:off x="1942743" y="6452116"/>
            <a:ext cx="10744795" cy="35433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6" name="Text 20"/>
          <p:cNvSpPr/>
          <p:nvPr/>
        </p:nvSpPr>
        <p:spPr>
          <a:xfrm>
            <a:off x="2098834" y="6524030"/>
            <a:ext cx="2907863" cy="2105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Predicted: No</a:t>
            </a:r>
            <a:endParaRPr lang="en-US" sz="1200" dirty="0"/>
          </a:p>
        </p:txBody>
      </p:sp>
      <p:sp>
        <p:nvSpPr>
          <p:cNvPr id="27" name="Text 21"/>
          <p:cNvSpPr/>
          <p:nvPr/>
        </p:nvSpPr>
        <p:spPr>
          <a:xfrm>
            <a:off x="5326023" y="6524030"/>
            <a:ext cx="3441263" cy="2105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756 Benar (TN)</a:t>
            </a:r>
            <a:endParaRPr lang="en-US" sz="1200" dirty="0"/>
          </a:p>
        </p:txBody>
      </p:sp>
      <p:sp>
        <p:nvSpPr>
          <p:cNvPr id="28" name="Text 22"/>
          <p:cNvSpPr/>
          <p:nvPr/>
        </p:nvSpPr>
        <p:spPr>
          <a:xfrm>
            <a:off x="9086612" y="6524030"/>
            <a:ext cx="3445073" cy="2105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dirty="0" smtClean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79 (FN)</a:t>
            </a:r>
            <a:endParaRPr lang="en-US" sz="1200" dirty="0"/>
          </a:p>
        </p:txBody>
      </p:sp>
      <p:sp>
        <p:nvSpPr>
          <p:cNvPr id="29" name="Shape 23"/>
          <p:cNvSpPr/>
          <p:nvPr/>
        </p:nvSpPr>
        <p:spPr>
          <a:xfrm>
            <a:off x="1942743" y="6806446"/>
            <a:ext cx="10744795" cy="35433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30" name="Text 24"/>
          <p:cNvSpPr/>
          <p:nvPr/>
        </p:nvSpPr>
        <p:spPr>
          <a:xfrm>
            <a:off x="2098834" y="6878360"/>
            <a:ext cx="2907863" cy="2105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Predicted: Yes</a:t>
            </a:r>
            <a:endParaRPr lang="en-US" sz="1200" dirty="0"/>
          </a:p>
        </p:txBody>
      </p:sp>
      <p:sp>
        <p:nvSpPr>
          <p:cNvPr id="31" name="Text 25"/>
          <p:cNvSpPr/>
          <p:nvPr/>
        </p:nvSpPr>
        <p:spPr>
          <a:xfrm>
            <a:off x="5326023" y="6878360"/>
            <a:ext cx="3441263" cy="2105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34 Salah (FP)</a:t>
            </a:r>
            <a:endParaRPr lang="en-US" sz="1200" dirty="0"/>
          </a:p>
        </p:txBody>
      </p:sp>
      <p:sp>
        <p:nvSpPr>
          <p:cNvPr id="32" name="Text 26"/>
          <p:cNvSpPr/>
          <p:nvPr/>
        </p:nvSpPr>
        <p:spPr>
          <a:xfrm>
            <a:off x="9086612" y="6878360"/>
            <a:ext cx="3445073" cy="2105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36 Benar (TP)</a:t>
            </a:r>
            <a:endParaRPr lang="en-US" sz="1200" dirty="0"/>
          </a:p>
        </p:txBody>
      </p:sp>
      <p:sp>
        <p:nvSpPr>
          <p:cNvPr id="33" name="Text 27"/>
          <p:cNvSpPr/>
          <p:nvPr/>
        </p:nvSpPr>
        <p:spPr>
          <a:xfrm>
            <a:off x="1935123" y="7289006"/>
            <a:ext cx="10760035" cy="4210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Hasil confusion matrix menunjukkan bahwa </a:t>
            </a:r>
            <a:r>
              <a:rPr lang="en-US" sz="120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756 nasabah "No"</a:t>
            </a:r>
            <a:r>
              <a:rPr lang="en-US" sz="12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berhasil ditebak dengan benar, </a:t>
            </a:r>
            <a:r>
              <a:rPr lang="en-US" sz="120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36 nasabah "Yes" (potensial)</a:t>
            </a:r>
            <a:r>
              <a:rPr lang="en-US" sz="12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berhasil ditemukan, dan hanya terjadi </a:t>
            </a:r>
            <a:r>
              <a:rPr lang="en-US" sz="120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34 kesalahan tebak nasabah "Yes"</a:t>
            </a:r>
            <a:r>
              <a:rPr lang="en-US" sz="12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(False Positive).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337786"/>
            <a:ext cx="959774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Kesimpulan &amp; Rekomendasi Strategis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500193"/>
            <a:ext cx="4196358" cy="4391620"/>
          </a:xfrm>
          <a:prstGeom prst="roundRect">
            <a:avLst>
              <a:gd name="adj" fmla="val 811"/>
            </a:avLst>
          </a:prstGeom>
          <a:solidFill>
            <a:srgbClr val="F0EDE6"/>
          </a:solidFill>
          <a:ln/>
        </p:spPr>
      </p:sp>
      <p:sp>
        <p:nvSpPr>
          <p:cNvPr id="4" name="Shape 2"/>
          <p:cNvSpPr/>
          <p:nvPr/>
        </p:nvSpPr>
        <p:spPr>
          <a:xfrm>
            <a:off x="1020604" y="2727008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1B5F39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207770" y="2914055"/>
            <a:ext cx="306110" cy="30611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20604" y="363426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Kesimpulan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020604" y="4124682"/>
            <a:ext cx="3742730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Integrasi teknik SMOTE pada Random Forest berhasil melipatgandakan penemuan nasabah potensial tanpa mengorbankan akurasi secara signifikan.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5216962" y="2500193"/>
            <a:ext cx="4196358" cy="4391620"/>
          </a:xfrm>
          <a:prstGeom prst="roundRect">
            <a:avLst>
              <a:gd name="adj" fmla="val 811"/>
            </a:avLst>
          </a:prstGeom>
          <a:solidFill>
            <a:srgbClr val="F0EDE6"/>
          </a:solidFill>
          <a:ln/>
        </p:spPr>
      </p:sp>
      <p:sp>
        <p:nvSpPr>
          <p:cNvPr id="9" name="Shape 6"/>
          <p:cNvSpPr/>
          <p:nvPr/>
        </p:nvSpPr>
        <p:spPr>
          <a:xfrm>
            <a:off x="5443776" y="2727008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1B5F39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5630942" y="2914055"/>
            <a:ext cx="306110" cy="30611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443776" y="363426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Rekomendasi Bisnis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5443776" y="4124682"/>
            <a:ext cx="3742730" cy="2540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Tim Pemasaran harus menggunakan model ini untuk memprioritaskan daftar telepon harian. Fokus pada nasabah yang memiliki skor tinggi dalam prediksi "Yes" untuk meningkatkan conversion rate bank.</a:t>
            </a:r>
            <a:endParaRPr lang="en-US" sz="1750" dirty="0"/>
          </a:p>
        </p:txBody>
      </p:sp>
      <p:sp>
        <p:nvSpPr>
          <p:cNvPr id="13" name="Shape 9"/>
          <p:cNvSpPr/>
          <p:nvPr/>
        </p:nvSpPr>
        <p:spPr>
          <a:xfrm>
            <a:off x="9640133" y="2500193"/>
            <a:ext cx="4196358" cy="4391620"/>
          </a:xfrm>
          <a:prstGeom prst="roundRect">
            <a:avLst>
              <a:gd name="adj" fmla="val 811"/>
            </a:avLst>
          </a:prstGeom>
          <a:solidFill>
            <a:srgbClr val="F0EDE6"/>
          </a:solidFill>
          <a:ln/>
        </p:spPr>
      </p:sp>
      <p:sp>
        <p:nvSpPr>
          <p:cNvPr id="14" name="Shape 10"/>
          <p:cNvSpPr/>
          <p:nvPr/>
        </p:nvSpPr>
        <p:spPr>
          <a:xfrm>
            <a:off x="9866948" y="2727008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1B5F39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p:blipFill>
        <p:spPr>
          <a:xfrm>
            <a:off x="10054114" y="2914055"/>
            <a:ext cx="306110" cy="30611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866948" y="363426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Pengembangan</a:t>
            </a:r>
            <a:endParaRPr lang="en-US" sz="2200" dirty="0"/>
          </a:p>
        </p:txBody>
      </p:sp>
      <p:sp>
        <p:nvSpPr>
          <p:cNvPr id="17" name="Text 12"/>
          <p:cNvSpPr/>
          <p:nvPr/>
        </p:nvSpPr>
        <p:spPr>
          <a:xfrm>
            <a:off x="9866948" y="4124682"/>
            <a:ext cx="3742730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Disarankan menambah fitur baru seperti riwayat keluhan nasabah, perilaku transaksi, dan analisis sentimen untuk meningkatkan akurasi lebih lanjut.</a:t>
            </a:r>
            <a:endParaRPr lang="en-US" sz="17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724</Words>
  <Application>Microsoft Office PowerPoint</Application>
  <PresentationFormat>Custom</PresentationFormat>
  <Paragraphs>107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Alice</vt:lpstr>
      <vt:lpstr>Calibri</vt:lpstr>
      <vt:lpstr>Alice Light</vt:lpstr>
      <vt:lpstr>Lora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lastModifiedBy>DELL</cp:lastModifiedBy>
  <cp:revision>3</cp:revision>
  <dcterms:created xsi:type="dcterms:W3CDTF">2026-05-04T17:06:11Z</dcterms:created>
  <dcterms:modified xsi:type="dcterms:W3CDTF">2026-05-06T10:27:37Z</dcterms:modified>
</cp:coreProperties>
</file>